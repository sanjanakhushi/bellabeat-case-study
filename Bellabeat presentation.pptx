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3"/>
  </p:notesMasterIdLst>
  <p:handoutMasterIdLst>
    <p:handoutMasterId r:id="rId14"/>
  </p:handoutMasterIdLst>
  <p:sldIdLst>
    <p:sldId id="261" r:id="rId5"/>
    <p:sldId id="273" r:id="rId6"/>
    <p:sldId id="300" r:id="rId7"/>
    <p:sldId id="314" r:id="rId8"/>
    <p:sldId id="315" r:id="rId9"/>
    <p:sldId id="286" r:id="rId10"/>
    <p:sldId id="316" r:id="rId11"/>
    <p:sldId id="31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4" autoAdjust="0"/>
  </p:normalViewPr>
  <p:slideViewPr>
    <p:cSldViewPr>
      <p:cViewPr varScale="1">
        <p:scale>
          <a:sx n="86" d="100"/>
          <a:sy n="86" d="100"/>
        </p:scale>
        <p:origin x="562" y="67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6/6/2026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6/6/2026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598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29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10800000" flipH="1" flipV="1">
            <a:off x="8616280" y="3224312"/>
            <a:ext cx="2087678" cy="32706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7448" y="609600"/>
            <a:ext cx="8928992" cy="56997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2158" y="1235209"/>
            <a:ext cx="5864382" cy="96159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Montserrat" pitchFamily="2" charset="0"/>
              </a:rPr>
              <a:t>Bellabeat Smart Device Usage Analysis</a:t>
            </a:r>
            <a:br>
              <a:rPr lang="en-US" sz="3200" b="1" dirty="0">
                <a:latin typeface="Montserrat" pitchFamily="2" charset="0"/>
              </a:rPr>
            </a:br>
            <a:endParaRPr lang="en-US" sz="3200" dirty="0">
              <a:latin typeface="Montserrat" pitchFamily="2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8056" y="2428661"/>
            <a:ext cx="4072586" cy="78750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Montserrat" pitchFamily="2" charset="0"/>
              </a:rPr>
              <a:t>Google Data Analytics Capstone Project</a:t>
            </a:r>
          </a:p>
          <a:p>
            <a:endParaRPr lang="en-US" sz="2400" dirty="0">
              <a:latin typeface="Montserrat" pitchFamily="2" charset="0"/>
            </a:endParaRPr>
          </a:p>
          <a:p>
            <a:r>
              <a:rPr lang="en-US" b="1" dirty="0">
                <a:latin typeface="Montserrat" pitchFamily="2" charset="0"/>
              </a:rPr>
              <a:t>Prepared By:</a:t>
            </a:r>
            <a:r>
              <a:rPr lang="en-US" dirty="0">
                <a:latin typeface="Montserrat" pitchFamily="2" charset="0"/>
              </a:rPr>
              <a:t> Sanjana Parihar</a:t>
            </a:r>
            <a:endParaRPr lang="en-US" b="1" dirty="0">
              <a:latin typeface="Montserrat" pitchFamily="2" charset="0"/>
            </a:endParaRPr>
          </a:p>
          <a:p>
            <a:endParaRPr lang="en-US" sz="2400" dirty="0">
              <a:latin typeface="Montserrat" pitchFamily="2" charset="0"/>
            </a:endParaRPr>
          </a:p>
          <a:p>
            <a:r>
              <a:rPr lang="en-US" sz="1200" b="1" dirty="0">
                <a:latin typeface="Montserrat" pitchFamily="2" charset="0"/>
              </a:rPr>
              <a:t>Tools Used :</a:t>
            </a:r>
          </a:p>
          <a:p>
            <a:r>
              <a:rPr lang="en-US" sz="1200" dirty="0">
                <a:latin typeface="Montserrat" pitchFamily="2" charset="0"/>
              </a:rPr>
              <a:t>SQL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</a:rPr>
              <a:t>Python (Pandas, NumPy, Matplotlib)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</a:rPr>
              <a:t>Tableau Public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</a:rPr>
              <a:t>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</a:rPr>
              <a:t>Fitbit Fitness Tracker Dataset (Kaggle)</a:t>
            </a:r>
          </a:p>
          <a:p>
            <a:endParaRPr lang="en-US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Montserrat" pitchFamily="2" charset="0"/>
              </a:rPr>
              <a:t>Business Task :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96" y="2528460"/>
            <a:ext cx="10288693" cy="366064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Montserrat" pitchFamily="2" charset="0"/>
              </a:rPr>
              <a:t>Business Questions -</a:t>
            </a:r>
          </a:p>
          <a:p>
            <a:r>
              <a:rPr lang="en-US" sz="1600" dirty="0">
                <a:latin typeface="Montserrat" pitchFamily="2" charset="0"/>
              </a:rPr>
              <a:t>What are smart device usage trends?</a:t>
            </a:r>
          </a:p>
          <a:p>
            <a:r>
              <a:rPr lang="en-US" sz="1600" dirty="0">
                <a:latin typeface="Montserrat" pitchFamily="2" charset="0"/>
              </a:rPr>
              <a:t>How do users behave?</a:t>
            </a:r>
          </a:p>
          <a:p>
            <a:r>
              <a:rPr lang="en-US" sz="1600" dirty="0">
                <a:latin typeface="Montserrat" pitchFamily="2" charset="0"/>
              </a:rPr>
              <a:t>How can Bellabeat improve marketing?</a:t>
            </a:r>
          </a:p>
          <a:p>
            <a:pPr marL="0" indent="0">
              <a:buNone/>
            </a:pPr>
            <a:r>
              <a:rPr lang="en-US" b="1" dirty="0">
                <a:latin typeface="Montserrat" pitchFamily="2" charset="0"/>
              </a:rPr>
              <a:t>Stakeholders</a:t>
            </a:r>
          </a:p>
          <a:p>
            <a:r>
              <a:rPr lang="en-US" sz="1600" dirty="0">
                <a:latin typeface="Montserrat" pitchFamily="2" charset="0"/>
              </a:rPr>
              <a:t>Urška Sršen (Co-Founder &amp; Chief Creative Officer)</a:t>
            </a:r>
          </a:p>
          <a:p>
            <a:r>
              <a:rPr lang="en-US" sz="1600" dirty="0">
                <a:latin typeface="Montserrat" pitchFamily="2" charset="0"/>
              </a:rPr>
              <a:t>Sando Mur (Co-Founder)</a:t>
            </a:r>
          </a:p>
          <a:p>
            <a:r>
              <a:rPr lang="en-US" sz="1600" dirty="0">
                <a:latin typeface="Montserrat" pitchFamily="2" charset="0"/>
              </a:rPr>
              <a:t>Bellabeat Marketing Analytics Team</a:t>
            </a:r>
          </a:p>
          <a:p>
            <a:endParaRPr lang="en-US" dirty="0">
              <a:latin typeface="Montserrat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Objective 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9AE809-4AB6-6DE2-ED3D-4842171F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Data &amp; Methodology</a:t>
            </a:r>
            <a:br>
              <a:rPr lang="en-US" b="1" u="sng" dirty="0"/>
            </a:br>
            <a:endParaRPr lang="en-US" u="sn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9B9682-610B-B065-60DB-A79A4C994CEC}"/>
              </a:ext>
            </a:extLst>
          </p:cNvPr>
          <p:cNvSpPr txBox="1"/>
          <p:nvPr/>
        </p:nvSpPr>
        <p:spPr>
          <a:xfrm>
            <a:off x="911424" y="1916832"/>
            <a:ext cx="9721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Montserrat" pitchFamily="2" charset="0"/>
              </a:rPr>
              <a:t>Dataset Used</a:t>
            </a:r>
          </a:p>
          <a:p>
            <a:pPr>
              <a:buNone/>
            </a:pPr>
            <a:endParaRPr lang="en-US" b="1" dirty="0">
              <a:latin typeface="Montserrat" pitchFamily="2" charset="0"/>
            </a:endParaRPr>
          </a:p>
          <a:p>
            <a:pPr>
              <a:buNone/>
            </a:pPr>
            <a:r>
              <a:rPr lang="en-US" dirty="0">
                <a:latin typeface="Montserrat" pitchFamily="2" charset="0"/>
              </a:rPr>
              <a:t>Fitbit Fitness Tracker Data (Kaggle)</a:t>
            </a:r>
          </a:p>
          <a:p>
            <a:pPr>
              <a:buNone/>
            </a:pPr>
            <a:endParaRPr lang="en-US" dirty="0">
              <a:latin typeface="Montserrat" pitchFamily="2" charset="0"/>
            </a:endParaRPr>
          </a:p>
          <a:p>
            <a:pPr>
              <a:buNone/>
            </a:pPr>
            <a:r>
              <a:rPr lang="en-US" b="1" dirty="0">
                <a:latin typeface="Montserrat" pitchFamily="2" charset="0"/>
              </a:rPr>
              <a:t>Files Analyzed</a:t>
            </a:r>
          </a:p>
          <a:p>
            <a:pPr>
              <a:buNone/>
            </a:pPr>
            <a:endParaRPr lang="en-US" b="1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itchFamily="2" charset="0"/>
              </a:rPr>
              <a:t>Daily_activity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itchFamily="2" charset="0"/>
              </a:rPr>
              <a:t>Sleep_day</a:t>
            </a:r>
            <a:endParaRPr lang="en-US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itchFamily="2" charset="0"/>
              </a:rPr>
              <a:t>hourly_Steps</a:t>
            </a:r>
            <a:endParaRPr lang="en-US" dirty="0">
              <a:latin typeface="Montserra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Montserrat" pitchFamily="2" charset="0"/>
            </a:endParaRPr>
          </a:p>
          <a:p>
            <a:pPr>
              <a:buNone/>
            </a:pPr>
            <a:r>
              <a:rPr lang="en-US" b="1" dirty="0">
                <a:latin typeface="Montserrat" pitchFamily="2" charset="0"/>
              </a:rPr>
              <a:t>Analysis Process</a:t>
            </a:r>
          </a:p>
          <a:p>
            <a:pPr>
              <a:buNone/>
            </a:pPr>
            <a:r>
              <a:rPr lang="en-US" dirty="0">
                <a:latin typeface="Montserrat" pitchFamily="2" charset="0"/>
              </a:rPr>
              <a:t>Ask → Prepare → Process → Analyze → Share → Act</a:t>
            </a:r>
          </a:p>
          <a:p>
            <a:pPr>
              <a:buNone/>
            </a:pPr>
            <a:endParaRPr lang="en-US" dirty="0">
              <a:latin typeface="Montserrat" pitchFamily="2" charset="0"/>
            </a:endParaRPr>
          </a:p>
          <a:p>
            <a:pPr>
              <a:buNone/>
            </a:pPr>
            <a:r>
              <a:rPr lang="en-US" b="1" dirty="0">
                <a:latin typeface="Montserrat" pitchFamily="2" charset="0"/>
              </a:rPr>
              <a:t>Workflow</a:t>
            </a:r>
          </a:p>
          <a:p>
            <a:pPr>
              <a:buNone/>
            </a:pPr>
            <a:r>
              <a:rPr lang="en-US" dirty="0">
                <a:latin typeface="Montserrat" pitchFamily="2" charset="0"/>
              </a:rPr>
              <a:t>Raw Data → SQL Cleaning → Python Validation → Tableau Dashboard →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27517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5465E-8475-7D9B-5B9E-A0CD3121F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AB908-D5E7-F26A-3793-33127609BE87}"/>
              </a:ext>
            </a:extLst>
          </p:cNvPr>
          <p:cNvSpPr txBox="1"/>
          <p:nvPr/>
        </p:nvSpPr>
        <p:spPr>
          <a:xfrm>
            <a:off x="479377" y="836712"/>
            <a:ext cx="70567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Montserrat" pitchFamily="2" charset="0"/>
              </a:rPr>
              <a:t>Data Preparation &amp; Analysis </a:t>
            </a:r>
          </a:p>
          <a:p>
            <a:pPr>
              <a:buNone/>
            </a:pPr>
            <a:endParaRPr lang="en-US" sz="1600" b="1" dirty="0">
              <a:latin typeface="Montserrat" pitchFamily="2" charset="0"/>
            </a:endParaRPr>
          </a:p>
          <a:p>
            <a:pPr>
              <a:buNone/>
            </a:pPr>
            <a:r>
              <a:rPr lang="en-US" sz="1600" b="1" dirty="0">
                <a:latin typeface="Montserrat" pitchFamily="2" charset="0"/>
              </a:rPr>
              <a:t>SQL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Imported Fitbit datasets into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Checked duplicates and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Standardized date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Created clean tables and summary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Analyzed activity, sleep, and hourly trends</a:t>
            </a:r>
          </a:p>
          <a:p>
            <a:endParaRPr lang="en-US" sz="1600" dirty="0">
              <a:latin typeface="Montserra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Montserrat" pitchFamily="2" charset="0"/>
            </a:endParaRPr>
          </a:p>
          <a:p>
            <a:pPr>
              <a:buNone/>
            </a:pPr>
            <a:r>
              <a:rPr lang="en-US" sz="1600" b="1" dirty="0">
                <a:latin typeface="Montserrat" pitchFamily="2" charset="0"/>
              </a:rPr>
              <a:t>Python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Imported data using 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Converted date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Created Weekday and Sleep Hours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Performed descriptive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Calculated summary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0"/>
              </a:rPr>
              <a:t>Validated SQL findings</a:t>
            </a:r>
          </a:p>
          <a:p>
            <a:endParaRPr lang="en-US" sz="1600" dirty="0">
              <a:latin typeface="Montserra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Montserrat" pitchFamily="2" charset="0"/>
            </a:endParaRPr>
          </a:p>
          <a:p>
            <a:pPr>
              <a:buNone/>
            </a:pPr>
            <a:r>
              <a:rPr lang="en-US" sz="1600" b="1" dirty="0">
                <a:latin typeface="Montserrat" pitchFamily="2" charset="0"/>
              </a:rPr>
              <a:t>Result</a:t>
            </a:r>
          </a:p>
          <a:p>
            <a:pPr>
              <a:buNone/>
            </a:pPr>
            <a:r>
              <a:rPr lang="en-US" sz="1600" dirty="0">
                <a:latin typeface="Montserrat" pitchFamily="2" charset="0"/>
              </a:rPr>
              <a:t>SQL and Python produced consistent findings, increasing confidence in the analysis.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2DFE46D-0704-AC5F-26A4-7CF6131E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222" b="10761"/>
          <a:stretch>
            <a:fillRect/>
          </a:stretch>
        </p:blipFill>
        <p:spPr>
          <a:xfrm>
            <a:off x="7374409" y="1124744"/>
            <a:ext cx="3795998" cy="21602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50FE76-4814-5C53-F0F5-9447409BD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09" y="3717032"/>
            <a:ext cx="3672408" cy="287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8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4E093-1B61-AA6B-D428-39F9DB7638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Dashboard Components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4FCF3-2887-8212-A627-D4B88BDFD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95CD03-3A4B-2E56-FE70-E3C657E3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990600"/>
            <a:ext cx="10804525" cy="708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Montserrat" pitchFamily="2" charset="0"/>
              </a:rPr>
              <a:t>Tableau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52032-F6C7-D88E-5D41-4473FC2460AF}"/>
              </a:ext>
            </a:extLst>
          </p:cNvPr>
          <p:cNvSpPr txBox="1"/>
          <p:nvPr/>
        </p:nvSpPr>
        <p:spPr>
          <a:xfrm>
            <a:off x="779928" y="2492896"/>
            <a:ext cx="61211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Daily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Calories Burned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Sleep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Steps by Weekday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Calories vs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Sleep Duration vs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Activity Level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Steps by Hour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Purpose</a:t>
            </a:r>
            <a:r>
              <a:rPr lang="en-US" dirty="0"/>
              <a:t>: Visualize user behavior, activity patterns, and wellness   habits.</a:t>
            </a:r>
          </a:p>
        </p:txBody>
      </p:sp>
    </p:spTree>
    <p:extLst>
      <p:ext uri="{BB962C8B-B14F-4D97-AF65-F5344CB8AC3E}">
        <p14:creationId xmlns:p14="http://schemas.microsoft.com/office/powerpoint/2010/main" val="312016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229EF-1257-ED0E-69D3-6DB64CD3C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63302"/>
            <a:ext cx="11190895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9B72-A59D-7778-4D58-40E53CF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itchFamily="2" charset="0"/>
              </a:rPr>
              <a:t>Key Findings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7E40B-AD44-7593-B90D-7809DB9F9F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Activity &amp; Wellness Trends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2D583-ABFC-082D-81EA-2C0BBEE28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81E06-4E93-DA08-BB25-2B1E44A42C86}"/>
              </a:ext>
            </a:extLst>
          </p:cNvPr>
          <p:cNvSpPr txBox="1"/>
          <p:nvPr/>
        </p:nvSpPr>
        <p:spPr>
          <a:xfrm>
            <a:off x="661339" y="2643985"/>
            <a:ext cx="1014193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Average daily steps ≈ 7,600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Average sleep duration ≈ 7 hours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Most users do not consistently reach the 10,000-step goal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Higher step counts are associated with higher calorie burn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Activity levels vary across weekdays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User activity is highest on weekdays and Saturday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Montserrat" pitchFamily="2" charset="0"/>
              </a:rPr>
              <a:t>Peak activity occurs during daytime and evening hours</a:t>
            </a:r>
          </a:p>
          <a:p>
            <a:endParaRPr lang="en-US" sz="1600" dirty="0">
              <a:latin typeface="Montserrat" pitchFamily="2" charset="0"/>
            </a:endParaRPr>
          </a:p>
          <a:p>
            <a:endParaRPr lang="en-US" sz="1600" dirty="0">
              <a:latin typeface="Montserrat" pitchFamily="2" charset="0"/>
            </a:endParaRPr>
          </a:p>
          <a:p>
            <a:pPr>
              <a:buNone/>
            </a:pPr>
            <a:r>
              <a:rPr lang="en-US" sz="1600" b="1" dirty="0">
                <a:latin typeface="Montserrat" pitchFamily="2" charset="0"/>
              </a:rPr>
              <a:t>Validation</a:t>
            </a:r>
          </a:p>
          <a:p>
            <a:pPr>
              <a:buNone/>
            </a:pPr>
            <a:r>
              <a:rPr lang="en-US" sz="1600" dirty="0">
                <a:latin typeface="Montserrat" pitchFamily="2" charset="0"/>
              </a:rPr>
              <a:t>The same insights were observed in both SQL and Python analysis.</a:t>
            </a:r>
          </a:p>
          <a:p>
            <a:pPr>
              <a:buNone/>
            </a:pPr>
            <a:br>
              <a:rPr lang="en-US" sz="1600" dirty="0">
                <a:latin typeface="Montserrat" pitchFamily="2" charset="0"/>
              </a:rPr>
            </a:br>
            <a:endParaRPr lang="en-US" sz="16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44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D4ADB-79CE-478E-8FBE-53E59DEC9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119">
            <a:extLst>
              <a:ext uri="{FF2B5EF4-FFF2-40B4-BE49-F238E27FC236}">
                <a16:creationId xmlns:a16="http://schemas.microsoft.com/office/drawing/2014/main" id="{A8F5C4E3-6105-466B-A340-80D73DB2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9DD077-C95D-15B6-97C0-1AFD299E42E6}"/>
              </a:ext>
            </a:extLst>
          </p:cNvPr>
          <p:cNvSpPr txBox="1"/>
          <p:nvPr/>
        </p:nvSpPr>
        <p:spPr>
          <a:xfrm>
            <a:off x="693060" y="980728"/>
            <a:ext cx="11019564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>
                <a:latin typeface="Montserrat" pitchFamily="2" charset="0"/>
              </a:rPr>
              <a:t>Recommendations &amp; Conclusion</a:t>
            </a:r>
          </a:p>
          <a:p>
            <a:pPr>
              <a:buNone/>
            </a:pPr>
            <a:endParaRPr lang="en-US" b="1" dirty="0">
              <a:latin typeface="Montserrat" pitchFamily="2" charset="0"/>
            </a:endParaRPr>
          </a:p>
          <a:p>
            <a:pPr>
              <a:buNone/>
            </a:pPr>
            <a:r>
              <a:rPr lang="en-US" b="1" dirty="0">
                <a:latin typeface="Montserrat" pitchFamily="2" charset="0"/>
              </a:rPr>
              <a:t>Recommendations</a:t>
            </a:r>
          </a:p>
          <a:p>
            <a:pPr>
              <a:buNone/>
            </a:pPr>
            <a:endParaRPr lang="en-US" b="1" dirty="0">
              <a:latin typeface="Montserrat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Montserrat" pitchFamily="2" charset="0"/>
              </a:rPr>
              <a:t>Introduce personalized step-goal challenges to encourage higher activity.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Montserrat" pitchFamily="2" charset="0"/>
              </a:rPr>
              <a:t>Send targeted reminders during peak engagement hours to improve user participation.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Montserrat" pitchFamily="2" charset="0"/>
              </a:rPr>
              <a:t>Promote Bellabeat's holistic wellness ecosystem by combining activity, sleep, and health insights.</a:t>
            </a:r>
          </a:p>
          <a:p>
            <a:pPr>
              <a:buFont typeface="+mj-lt"/>
              <a:buAutoNum type="arabicPeriod"/>
            </a:pPr>
            <a:endParaRPr lang="en-US" dirty="0">
              <a:latin typeface="Montserrat" pitchFamily="2" charset="0"/>
            </a:endParaRPr>
          </a:p>
          <a:p>
            <a:pPr>
              <a:buFont typeface="+mj-lt"/>
              <a:buAutoNum type="arabicPeriod"/>
            </a:pPr>
            <a:endParaRPr lang="en-US" dirty="0">
              <a:latin typeface="Montserrat" pitchFamily="2" charset="0"/>
            </a:endParaRPr>
          </a:p>
          <a:p>
            <a:pPr>
              <a:buNone/>
            </a:pPr>
            <a:r>
              <a:rPr lang="en-US" b="1" dirty="0">
                <a:latin typeface="Montserrat" pitchFamily="2" charset="0"/>
              </a:rPr>
              <a:t>Conclusion</a:t>
            </a:r>
          </a:p>
          <a:p>
            <a:pPr>
              <a:buNone/>
            </a:pPr>
            <a:endParaRPr lang="en-US" b="1" dirty="0">
              <a:latin typeface="Montserrat" pitchFamily="2" charset="0"/>
            </a:endParaRPr>
          </a:p>
          <a:p>
            <a:pPr>
              <a:buNone/>
            </a:pPr>
            <a:r>
              <a:rPr lang="en-US" dirty="0">
                <a:latin typeface="Montserrat" pitchFamily="2" charset="0"/>
              </a:rPr>
              <a:t>The analysis revealed clear relationships between physical activity, calorie expenditure, sleep habits, and user engagement.</a:t>
            </a:r>
          </a:p>
          <a:p>
            <a:pPr>
              <a:buNone/>
            </a:pPr>
            <a:endParaRPr lang="en-US" dirty="0">
              <a:latin typeface="Montserrat" pitchFamily="2" charset="0"/>
            </a:endParaRPr>
          </a:p>
          <a:p>
            <a:pPr>
              <a:buNone/>
            </a:pPr>
            <a:r>
              <a:rPr lang="en-US" dirty="0">
                <a:latin typeface="Montserrat" pitchFamily="2" charset="0"/>
              </a:rPr>
              <a:t>These insights can help Bellabeat improve customer engagement, increase retention, and develop more personalized marketing campaigns.</a:t>
            </a:r>
          </a:p>
        </p:txBody>
      </p:sp>
    </p:spTree>
    <p:extLst>
      <p:ext uri="{BB962C8B-B14F-4D97-AF65-F5344CB8AC3E}">
        <p14:creationId xmlns:p14="http://schemas.microsoft.com/office/powerpoint/2010/main" val="2500734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85</TotalTime>
  <Words>411</Words>
  <Application>Microsoft Office PowerPoint</Application>
  <PresentationFormat>Widescreen</PresentationFormat>
  <Paragraphs>109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Montserrat</vt:lpstr>
      <vt:lpstr>Tw Cen MT</vt:lpstr>
      <vt:lpstr>Tw Cen MT Condensed</vt:lpstr>
      <vt:lpstr>Wingdings</vt:lpstr>
      <vt:lpstr>Wingdings 3</vt:lpstr>
      <vt:lpstr>ModernClassicBlock-3</vt:lpstr>
      <vt:lpstr>Bellabeat Smart Device Usage Analysis </vt:lpstr>
      <vt:lpstr>Business Task :</vt:lpstr>
      <vt:lpstr>Data &amp; Methodology </vt:lpstr>
      <vt:lpstr>PowerPoint Presentation</vt:lpstr>
      <vt:lpstr>Tableau Dashboard</vt:lpstr>
      <vt:lpstr>PowerPoint Presentation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Parihar</dc:creator>
  <cp:lastModifiedBy>Sanjana Parihar</cp:lastModifiedBy>
  <cp:revision>4</cp:revision>
  <dcterms:created xsi:type="dcterms:W3CDTF">2026-06-06T09:46:26Z</dcterms:created>
  <dcterms:modified xsi:type="dcterms:W3CDTF">2026-06-06T11:11:50Z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